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345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</p15:sldGuideLst>
    </p:ext>
    <p:ext uri="{9B23C45E-6A9E-2F80-7F98-0CE583877B2C}">
      <wppc:sldGuideLockLst xmlns:wppc="http://www.wps.cn/officeDocument/PresentationCustomData">
        <wppc:guide id="1"/>
        <wppc:guide id="2"/>
        <wppc:guide id="4"/>
        <wppc:guide id="5"/>
        <wppc:guide id="6"/>
        <wppc:guide id="7"/>
      </wppc:sldGuideLock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  <p:guide pos="211"/>
        <p:guide pos="7469"/>
        <p:guide orient="horz" pos="345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80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svg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60.xml"/><Relationship Id="rId71" Type="http://schemas.openxmlformats.org/officeDocument/2006/relationships/tags" Target="../tags/tag59.xml"/><Relationship Id="rId70" Type="http://schemas.openxmlformats.org/officeDocument/2006/relationships/tags" Target="../tags/tag58.xml"/><Relationship Id="rId7" Type="http://schemas.openxmlformats.org/officeDocument/2006/relationships/image" Target="../media/image3.png"/><Relationship Id="rId69" Type="http://schemas.openxmlformats.org/officeDocument/2006/relationships/tags" Target="../tags/tag57.xml"/><Relationship Id="rId68" Type="http://schemas.openxmlformats.org/officeDocument/2006/relationships/tags" Target="../tags/tag56.xml"/><Relationship Id="rId67" Type="http://schemas.openxmlformats.org/officeDocument/2006/relationships/tags" Target="../tags/tag55.xml"/><Relationship Id="rId66" Type="http://schemas.openxmlformats.org/officeDocument/2006/relationships/tags" Target="../tags/tag54.xml"/><Relationship Id="rId65" Type="http://schemas.openxmlformats.org/officeDocument/2006/relationships/tags" Target="../tags/tag53.xml"/><Relationship Id="rId64" Type="http://schemas.openxmlformats.org/officeDocument/2006/relationships/tags" Target="../tags/tag52.xml"/><Relationship Id="rId63" Type="http://schemas.openxmlformats.org/officeDocument/2006/relationships/tags" Target="../tags/tag51.xml"/><Relationship Id="rId62" Type="http://schemas.openxmlformats.org/officeDocument/2006/relationships/tags" Target="../tags/tag50.xml"/><Relationship Id="rId61" Type="http://schemas.openxmlformats.org/officeDocument/2006/relationships/tags" Target="../tags/tag49.xml"/><Relationship Id="rId60" Type="http://schemas.openxmlformats.org/officeDocument/2006/relationships/tags" Target="../tags/tag48.xml"/><Relationship Id="rId6" Type="http://schemas.openxmlformats.org/officeDocument/2006/relationships/tags" Target="../tags/tag4.xml"/><Relationship Id="rId59" Type="http://schemas.openxmlformats.org/officeDocument/2006/relationships/tags" Target="../tags/tag47.xml"/><Relationship Id="rId58" Type="http://schemas.openxmlformats.org/officeDocument/2006/relationships/tags" Target="../tags/tag46.xml"/><Relationship Id="rId57" Type="http://schemas.openxmlformats.org/officeDocument/2006/relationships/tags" Target="../tags/tag45.xml"/><Relationship Id="rId56" Type="http://schemas.openxmlformats.org/officeDocument/2006/relationships/tags" Target="../tags/tag44.xml"/><Relationship Id="rId55" Type="http://schemas.openxmlformats.org/officeDocument/2006/relationships/tags" Target="../tags/tag43.xml"/><Relationship Id="rId54" Type="http://schemas.openxmlformats.org/officeDocument/2006/relationships/tags" Target="../tags/tag42.xml"/><Relationship Id="rId53" Type="http://schemas.openxmlformats.org/officeDocument/2006/relationships/tags" Target="../tags/tag41.xml"/><Relationship Id="rId52" Type="http://schemas.openxmlformats.org/officeDocument/2006/relationships/tags" Target="../tags/tag40.xml"/><Relationship Id="rId51" Type="http://schemas.openxmlformats.org/officeDocument/2006/relationships/tags" Target="../tags/tag39.xml"/><Relationship Id="rId50" Type="http://schemas.openxmlformats.org/officeDocument/2006/relationships/tags" Target="../tags/tag38.xml"/><Relationship Id="rId5" Type="http://schemas.openxmlformats.org/officeDocument/2006/relationships/tags" Target="../tags/tag3.xml"/><Relationship Id="rId49" Type="http://schemas.openxmlformats.org/officeDocument/2006/relationships/tags" Target="../tags/tag37.xml"/><Relationship Id="rId48" Type="http://schemas.openxmlformats.org/officeDocument/2006/relationships/tags" Target="../tags/tag36.xml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tags" Target="../tags/tag32.xml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tags" Target="../tags/tag29.xml"/><Relationship Id="rId40" Type="http://schemas.openxmlformats.org/officeDocument/2006/relationships/tags" Target="../tags/tag28.xml"/><Relationship Id="rId4" Type="http://schemas.openxmlformats.org/officeDocument/2006/relationships/image" Target="../media/image2.svg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tags" Target="../tags/tag25.xml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image" Target="../media/image1.png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tags" Target="../tags/tag13.xml"/><Relationship Id="rId24" Type="http://schemas.openxmlformats.org/officeDocument/2006/relationships/image" Target="../media/image12.svg"/><Relationship Id="rId23" Type="http://schemas.openxmlformats.org/officeDocument/2006/relationships/image" Target="../media/image11.png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10.svg"/><Relationship Id="rId2" Type="http://schemas.openxmlformats.org/officeDocument/2006/relationships/tags" Target="../tags/tag2.xml"/><Relationship Id="rId19" Type="http://schemas.openxmlformats.org/officeDocument/2006/relationships/image" Target="../media/image9.png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2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组织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财务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项目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35915" y="548640"/>
            <a:ext cx="1800225" cy="720090"/>
            <a:chOff x="0" y="1317"/>
            <a:chExt cx="2835" cy="1134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北美市场</a:t>
              </a:r>
              <a:r>
                <a:rPr lang="zh-CN" altLang="en-US" sz="1000" b="1">
                  <a:solidFill>
                    <a:schemeClr val="tx1"/>
                  </a:solidFill>
                </a:rPr>
                <a:t>拓展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北美市场</a:t>
              </a:r>
              <a:r>
                <a:rPr lang="zh-CN" altLang="en-US" sz="800">
                  <a:solidFill>
                    <a:schemeClr val="tx1"/>
                  </a:solidFill>
                </a:rPr>
                <a:t>拓展受阻，延迟</a:t>
              </a:r>
              <a:r>
                <a:rPr lang="en-US" altLang="zh-CN" sz="800">
                  <a:solidFill>
                    <a:schemeClr val="tx1"/>
                  </a:solidFill>
                </a:rPr>
                <a:t> 60%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美国商务部短名单</a:t>
              </a:r>
              <a:r>
                <a:rPr lang="zh-CN" altLang="en-US" sz="800">
                  <a:solidFill>
                    <a:schemeClr val="tx1"/>
                  </a:solidFill>
                </a:rPr>
                <a:t>禁售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加拿大进口补贴</a:t>
              </a:r>
              <a:r>
                <a:rPr lang="en-US" altLang="zh-CN" sz="800">
                  <a:solidFill>
                    <a:schemeClr val="tx1"/>
                  </a:solidFill>
                </a:rPr>
                <a:t>10%</a:t>
              </a:r>
              <a:r>
                <a:rPr lang="zh-CN" altLang="en-US" sz="800">
                  <a:solidFill>
                    <a:schemeClr val="tx1"/>
                  </a:solidFill>
                </a:rPr>
                <a:t>，超额</a:t>
              </a:r>
              <a:r>
                <a:rPr lang="en-US" altLang="zh-CN" sz="800">
                  <a:solidFill>
                    <a:schemeClr val="tx1"/>
                  </a:solidFill>
                </a:rPr>
                <a:t>120%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36" name="图片 35" descr="343435333332363b333635393134373b65f695f4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2280920" y="548640"/>
            <a:ext cx="1800225" cy="720090"/>
            <a:chOff x="0" y="1317"/>
            <a:chExt cx="2835" cy="1134"/>
          </a:xfrm>
        </p:grpSpPr>
        <p:sp>
          <p:nvSpPr>
            <p:cNvPr id="49" name="矩形 48"/>
            <p:cNvSpPr/>
            <p:nvPr>
              <p:custDataLst>
                <p:tags r:id="rId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51" name="图片 50" descr="343435333333343b333635353335333b6682505c4e2d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76" name="组合 75"/>
          <p:cNvGrpSpPr/>
          <p:nvPr/>
        </p:nvGrpSpPr>
        <p:grpSpPr>
          <a:xfrm>
            <a:off x="4225290" y="548640"/>
            <a:ext cx="1800225" cy="720090"/>
            <a:chOff x="0" y="1317"/>
            <a:chExt cx="2835" cy="1134"/>
          </a:xfrm>
        </p:grpSpPr>
        <p:sp>
          <p:nvSpPr>
            <p:cNvPr id="77" name="矩形 76"/>
            <p:cNvSpPr/>
            <p:nvPr>
              <p:custDataLst>
                <p:tags r:id="rId9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80" name="图片 79" descr="343435383132343b333634353035363b6682505c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94" name="组合 93"/>
          <p:cNvGrpSpPr/>
          <p:nvPr/>
        </p:nvGrpSpPr>
        <p:grpSpPr>
          <a:xfrm>
            <a:off x="6169660" y="548640"/>
            <a:ext cx="1800225" cy="720090"/>
            <a:chOff x="0" y="1317"/>
            <a:chExt cx="2835" cy="1134"/>
          </a:xfrm>
        </p:grpSpPr>
        <p:sp>
          <p:nvSpPr>
            <p:cNvPr id="95" name="矩形 94"/>
            <p:cNvSpPr/>
            <p:nvPr>
              <p:custDataLst>
                <p:tags r:id="rId13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00" name="图片 99" descr="343435383132343b333635353235343b505c6b6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03" name="组合 102"/>
          <p:cNvGrpSpPr/>
          <p:nvPr/>
        </p:nvGrpSpPr>
        <p:grpSpPr>
          <a:xfrm>
            <a:off x="10058400" y="548640"/>
            <a:ext cx="1800225" cy="720090"/>
            <a:chOff x="0" y="1317"/>
            <a:chExt cx="2835" cy="1134"/>
          </a:xfrm>
        </p:grpSpPr>
        <p:sp>
          <p:nvSpPr>
            <p:cNvPr id="104" name="矩形 103"/>
            <p:cNvSpPr/>
            <p:nvPr>
              <p:custDataLst>
                <p:tags r:id="rId17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08" name="图片 107" descr="343435333331353b333635353439373b900051fa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12" name="组合 111"/>
          <p:cNvGrpSpPr/>
          <p:nvPr/>
        </p:nvGrpSpPr>
        <p:grpSpPr>
          <a:xfrm>
            <a:off x="8114030" y="548640"/>
            <a:ext cx="1800225" cy="720090"/>
            <a:chOff x="0" y="1317"/>
            <a:chExt cx="2835" cy="1134"/>
          </a:xfrm>
        </p:grpSpPr>
        <p:sp>
          <p:nvSpPr>
            <p:cNvPr id="113" name="矩形 112"/>
            <p:cNvSpPr/>
            <p:nvPr>
              <p:custDataLst>
                <p:tags r:id="rId2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20" name="图片 119" descr="343435383133323b333634393331363b5b8c62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25" name="组合 124"/>
          <p:cNvGrpSpPr/>
          <p:nvPr/>
        </p:nvGrpSpPr>
        <p:grpSpPr>
          <a:xfrm>
            <a:off x="4223385" y="1718945"/>
            <a:ext cx="1800225" cy="720090"/>
            <a:chOff x="0" y="1317"/>
            <a:chExt cx="2835" cy="1134"/>
          </a:xfrm>
        </p:grpSpPr>
        <p:sp>
          <p:nvSpPr>
            <p:cNvPr id="126" name="矩形 125"/>
            <p:cNvSpPr/>
            <p:nvPr>
              <p:custDataLst>
                <p:tags r:id="rId2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27" name="图片 126" descr="343435333333343b333635353335333b6682505c4e2d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28" name="组合 127"/>
          <p:cNvGrpSpPr/>
          <p:nvPr/>
        </p:nvGrpSpPr>
        <p:grpSpPr>
          <a:xfrm>
            <a:off x="2279650" y="1718945"/>
            <a:ext cx="1800225" cy="720090"/>
            <a:chOff x="0" y="1317"/>
            <a:chExt cx="2835" cy="1134"/>
          </a:xfrm>
        </p:grpSpPr>
        <p:sp>
          <p:nvSpPr>
            <p:cNvPr id="129" name="矩形 128"/>
            <p:cNvSpPr/>
            <p:nvPr>
              <p:custDataLst>
                <p:tags r:id="rId27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30" name="图片 129" descr="343435383132343b333634353035363b6682505c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31" name="组合 130"/>
          <p:cNvGrpSpPr/>
          <p:nvPr/>
        </p:nvGrpSpPr>
        <p:grpSpPr>
          <a:xfrm>
            <a:off x="6167120" y="1718945"/>
            <a:ext cx="1800225" cy="720090"/>
            <a:chOff x="0" y="1317"/>
            <a:chExt cx="2835" cy="1134"/>
          </a:xfrm>
        </p:grpSpPr>
        <p:sp>
          <p:nvSpPr>
            <p:cNvPr id="132" name="矩形 131"/>
            <p:cNvSpPr/>
            <p:nvPr>
              <p:custDataLst>
                <p:tags r:id="rId29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33" name="图片 132" descr="343435383132343b333635353235343b505c6b62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34" name="组合 133"/>
          <p:cNvGrpSpPr/>
          <p:nvPr/>
        </p:nvGrpSpPr>
        <p:grpSpPr>
          <a:xfrm>
            <a:off x="8110855" y="1718945"/>
            <a:ext cx="1800225" cy="720090"/>
            <a:chOff x="0" y="1317"/>
            <a:chExt cx="2835" cy="1134"/>
          </a:xfrm>
        </p:grpSpPr>
        <p:sp>
          <p:nvSpPr>
            <p:cNvPr id="135" name="矩形 134"/>
            <p:cNvSpPr/>
            <p:nvPr>
              <p:custDataLst>
                <p:tags r:id="rId3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36" name="图片 135" descr="343435333331353b333635353439373b900051fa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37" name="组合 136"/>
          <p:cNvGrpSpPr/>
          <p:nvPr/>
        </p:nvGrpSpPr>
        <p:grpSpPr>
          <a:xfrm>
            <a:off x="10054590" y="1718945"/>
            <a:ext cx="1800225" cy="720090"/>
            <a:chOff x="0" y="1317"/>
            <a:chExt cx="2835" cy="1134"/>
          </a:xfrm>
        </p:grpSpPr>
        <p:sp>
          <p:nvSpPr>
            <p:cNvPr id="138" name="矩形 137"/>
            <p:cNvSpPr/>
            <p:nvPr>
              <p:custDataLst>
                <p:tags r:id="rId33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39" name="图片 138" descr="343435383133323b333634393331363b5b8c621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43" name="组合 142"/>
          <p:cNvGrpSpPr/>
          <p:nvPr/>
        </p:nvGrpSpPr>
        <p:grpSpPr>
          <a:xfrm>
            <a:off x="10057765" y="2889250"/>
            <a:ext cx="1800225" cy="720090"/>
            <a:chOff x="0" y="1317"/>
            <a:chExt cx="2835" cy="1134"/>
          </a:xfrm>
        </p:grpSpPr>
        <p:sp>
          <p:nvSpPr>
            <p:cNvPr id="144" name="矩形 143"/>
            <p:cNvSpPr/>
            <p:nvPr>
              <p:custDataLst>
                <p:tags r:id="rId3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45" name="图片 144" descr="343435333333343b333635353335333b6682505c4e2d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46" name="组合 145"/>
          <p:cNvGrpSpPr/>
          <p:nvPr/>
        </p:nvGrpSpPr>
        <p:grpSpPr>
          <a:xfrm>
            <a:off x="4224655" y="2889250"/>
            <a:ext cx="1800225" cy="720090"/>
            <a:chOff x="0" y="1317"/>
            <a:chExt cx="2835" cy="1134"/>
          </a:xfrm>
        </p:grpSpPr>
        <p:sp>
          <p:nvSpPr>
            <p:cNvPr id="147" name="矩形 146"/>
            <p:cNvSpPr/>
            <p:nvPr>
              <p:custDataLst>
                <p:tags r:id="rId37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48" name="图片 147" descr="343435383132343b333634353035363b6682505c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49" name="组合 148"/>
          <p:cNvGrpSpPr/>
          <p:nvPr/>
        </p:nvGrpSpPr>
        <p:grpSpPr>
          <a:xfrm>
            <a:off x="2280285" y="2889250"/>
            <a:ext cx="1800225" cy="720090"/>
            <a:chOff x="0" y="1317"/>
            <a:chExt cx="2835" cy="1134"/>
          </a:xfrm>
        </p:grpSpPr>
        <p:sp>
          <p:nvSpPr>
            <p:cNvPr id="150" name="矩形 149"/>
            <p:cNvSpPr/>
            <p:nvPr>
              <p:custDataLst>
                <p:tags r:id="rId39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51" name="图片 150" descr="343435383132343b333635353235343b505c6b6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52" name="组合 151"/>
          <p:cNvGrpSpPr/>
          <p:nvPr/>
        </p:nvGrpSpPr>
        <p:grpSpPr>
          <a:xfrm>
            <a:off x="6169025" y="2889250"/>
            <a:ext cx="1800225" cy="720090"/>
            <a:chOff x="0" y="1317"/>
            <a:chExt cx="2835" cy="1134"/>
          </a:xfrm>
        </p:grpSpPr>
        <p:sp>
          <p:nvSpPr>
            <p:cNvPr id="153" name="矩形 152"/>
            <p:cNvSpPr/>
            <p:nvPr>
              <p:custDataLst>
                <p:tags r:id="rId4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54" name="图片 153" descr="343435333331353b333635353439373b900051fa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55" name="组合 154"/>
          <p:cNvGrpSpPr/>
          <p:nvPr/>
        </p:nvGrpSpPr>
        <p:grpSpPr>
          <a:xfrm>
            <a:off x="8113395" y="2889250"/>
            <a:ext cx="1800225" cy="720090"/>
            <a:chOff x="0" y="1317"/>
            <a:chExt cx="2835" cy="1134"/>
          </a:xfrm>
        </p:grpSpPr>
        <p:sp>
          <p:nvSpPr>
            <p:cNvPr id="156" name="矩形 155"/>
            <p:cNvSpPr/>
            <p:nvPr>
              <p:custDataLst>
                <p:tags r:id="rId43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57" name="图片 156" descr="343435383133323b333634393331363b5b8c621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58" name="组合 157"/>
          <p:cNvGrpSpPr/>
          <p:nvPr/>
        </p:nvGrpSpPr>
        <p:grpSpPr>
          <a:xfrm>
            <a:off x="335915" y="4059555"/>
            <a:ext cx="1800225" cy="720090"/>
            <a:chOff x="0" y="1317"/>
            <a:chExt cx="2835" cy="1134"/>
          </a:xfrm>
        </p:grpSpPr>
        <p:sp>
          <p:nvSpPr>
            <p:cNvPr id="159" name="矩形 158"/>
            <p:cNvSpPr/>
            <p:nvPr>
              <p:custDataLst>
                <p:tags r:id="rId4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M</a:t>
              </a:r>
              <a:r>
                <a:rPr lang="zh-CN" altLang="en-US" sz="1000" b="1">
                  <a:solidFill>
                    <a:schemeClr val="tx1"/>
                  </a:solidFill>
                </a:rPr>
                <a:t>产品线</a:t>
              </a:r>
              <a:r>
                <a:rPr lang="zh-CN" altLang="en-US" sz="1000" b="1">
                  <a:solidFill>
                    <a:schemeClr val="tx1"/>
                  </a:solidFill>
                </a:rPr>
                <a:t>全天候战略</a:t>
              </a:r>
              <a:r>
                <a:rPr lang="zh-CN" altLang="en-US" sz="1000" b="1">
                  <a:solidFill>
                    <a:schemeClr val="tx1"/>
                  </a:solidFill>
                </a:rPr>
                <a:t>联盟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60" name="图片 159" descr="343435333332363b333635393134373b65f695f4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4224655" y="4059555"/>
            <a:ext cx="1800225" cy="720090"/>
            <a:chOff x="0" y="1317"/>
            <a:chExt cx="2835" cy="1134"/>
          </a:xfrm>
        </p:grpSpPr>
        <p:sp>
          <p:nvSpPr>
            <p:cNvPr id="162" name="矩形 161"/>
            <p:cNvSpPr/>
            <p:nvPr>
              <p:custDataLst>
                <p:tags r:id="rId47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63" name="图片 162" descr="343435333333343b333635353335333b6682505c4e2d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2280285" y="4059555"/>
            <a:ext cx="1800225" cy="720090"/>
            <a:chOff x="0" y="1317"/>
            <a:chExt cx="2835" cy="1134"/>
          </a:xfrm>
        </p:grpSpPr>
        <p:sp>
          <p:nvSpPr>
            <p:cNvPr id="165" name="矩形 164"/>
            <p:cNvSpPr/>
            <p:nvPr>
              <p:custDataLst>
                <p:tags r:id="rId49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66" name="图片 165" descr="343435383132343b333634353035363b6682505c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169025" y="4059555"/>
            <a:ext cx="1800225" cy="720090"/>
            <a:chOff x="0" y="1317"/>
            <a:chExt cx="2835" cy="1134"/>
          </a:xfrm>
        </p:grpSpPr>
        <p:sp>
          <p:nvSpPr>
            <p:cNvPr id="168" name="矩形 167"/>
            <p:cNvSpPr/>
            <p:nvPr>
              <p:custDataLst>
                <p:tags r:id="rId5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69" name="图片 168" descr="343435383132343b333635353235343b505c6b62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70" name="组合 169"/>
          <p:cNvGrpSpPr/>
          <p:nvPr/>
        </p:nvGrpSpPr>
        <p:grpSpPr>
          <a:xfrm>
            <a:off x="10057765" y="4059555"/>
            <a:ext cx="1800225" cy="720090"/>
            <a:chOff x="0" y="1317"/>
            <a:chExt cx="2835" cy="1134"/>
          </a:xfrm>
        </p:grpSpPr>
        <p:sp>
          <p:nvSpPr>
            <p:cNvPr id="171" name="矩形 170"/>
            <p:cNvSpPr/>
            <p:nvPr>
              <p:custDataLst>
                <p:tags r:id="rId53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72" name="图片 171" descr="343435333331353b333635353439373b900051fa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73" name="组合 172"/>
          <p:cNvGrpSpPr/>
          <p:nvPr/>
        </p:nvGrpSpPr>
        <p:grpSpPr>
          <a:xfrm>
            <a:off x="8113395" y="4059555"/>
            <a:ext cx="1800225" cy="720090"/>
            <a:chOff x="0" y="1317"/>
            <a:chExt cx="2835" cy="1134"/>
          </a:xfrm>
        </p:grpSpPr>
        <p:sp>
          <p:nvSpPr>
            <p:cNvPr id="174" name="矩形 173"/>
            <p:cNvSpPr/>
            <p:nvPr>
              <p:custDataLst>
                <p:tags r:id="rId5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75" name="图片 174" descr="343435383133323b333634393331363b5b8c6210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79" name="组合 178"/>
          <p:cNvGrpSpPr/>
          <p:nvPr/>
        </p:nvGrpSpPr>
        <p:grpSpPr>
          <a:xfrm>
            <a:off x="2279650" y="5228590"/>
            <a:ext cx="1800225" cy="720090"/>
            <a:chOff x="0" y="1317"/>
            <a:chExt cx="2835" cy="1134"/>
          </a:xfrm>
        </p:grpSpPr>
        <p:sp>
          <p:nvSpPr>
            <p:cNvPr id="180" name="矩形 179"/>
            <p:cNvSpPr/>
            <p:nvPr>
              <p:custDataLst>
                <p:tags r:id="rId57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81" name="图片 180" descr="343435333333343b333635353335333b6682505c4e2d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82" name="组合 181"/>
          <p:cNvGrpSpPr/>
          <p:nvPr/>
        </p:nvGrpSpPr>
        <p:grpSpPr>
          <a:xfrm>
            <a:off x="10058400" y="5229860"/>
            <a:ext cx="1800225" cy="720090"/>
            <a:chOff x="0" y="1317"/>
            <a:chExt cx="2835" cy="1134"/>
          </a:xfrm>
        </p:grpSpPr>
        <p:sp>
          <p:nvSpPr>
            <p:cNvPr id="183" name="矩形 182"/>
            <p:cNvSpPr/>
            <p:nvPr>
              <p:custDataLst>
                <p:tags r:id="rId59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84" name="图片 183" descr="343435383132343b333634353035363b6682505c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85" name="组合 184"/>
          <p:cNvGrpSpPr/>
          <p:nvPr/>
        </p:nvGrpSpPr>
        <p:grpSpPr>
          <a:xfrm>
            <a:off x="6168390" y="5228590"/>
            <a:ext cx="1800225" cy="720090"/>
            <a:chOff x="0" y="1317"/>
            <a:chExt cx="2835" cy="1134"/>
          </a:xfrm>
        </p:grpSpPr>
        <p:sp>
          <p:nvSpPr>
            <p:cNvPr id="186" name="矩形 185"/>
            <p:cNvSpPr/>
            <p:nvPr>
              <p:custDataLst>
                <p:tags r:id="rId61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87" name="图片 186" descr="343435383132343b333635353235343b505c6b62"/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88" name="组合 187"/>
          <p:cNvGrpSpPr/>
          <p:nvPr/>
        </p:nvGrpSpPr>
        <p:grpSpPr>
          <a:xfrm>
            <a:off x="4224020" y="5228590"/>
            <a:ext cx="1800225" cy="720090"/>
            <a:chOff x="0" y="1317"/>
            <a:chExt cx="2835" cy="1134"/>
          </a:xfrm>
        </p:grpSpPr>
        <p:sp>
          <p:nvSpPr>
            <p:cNvPr id="189" name="矩形 188"/>
            <p:cNvSpPr/>
            <p:nvPr>
              <p:custDataLst>
                <p:tags r:id="rId63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90" name="图片 189" descr="343435333331353b333635353439373b900051fa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91" name="组合 190"/>
          <p:cNvGrpSpPr/>
          <p:nvPr/>
        </p:nvGrpSpPr>
        <p:grpSpPr>
          <a:xfrm>
            <a:off x="8112760" y="5228590"/>
            <a:ext cx="1800225" cy="720090"/>
            <a:chOff x="0" y="1317"/>
            <a:chExt cx="2835" cy="1134"/>
          </a:xfrm>
        </p:grpSpPr>
        <p:sp>
          <p:nvSpPr>
            <p:cNvPr id="192" name="矩形 191"/>
            <p:cNvSpPr/>
            <p:nvPr>
              <p:custDataLst>
                <p:tags r:id="rId65"/>
              </p:custDataLst>
            </p:nvPr>
          </p:nvSpPr>
          <p:spPr>
            <a:xfrm>
              <a:off x="0" y="131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zh-CN" altLang="en-US" sz="1000" b="1">
                  <a:solidFill>
                    <a:schemeClr val="tx1"/>
                  </a:solidFill>
                </a:rPr>
                <a:t>根项目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93" name="图片 192" descr="343435383133323b333634393331363b5b8c6210"/>
            <p:cNvPicPr>
              <a:picLocks noChangeAspect="1"/>
            </p:cNvPicPr>
            <p:nvPr>
              <p:custDataLst>
                <p:tags r:id="rId66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195" name="组合 194"/>
          <p:cNvGrpSpPr/>
          <p:nvPr/>
        </p:nvGrpSpPr>
        <p:grpSpPr>
          <a:xfrm>
            <a:off x="335915" y="1718945"/>
            <a:ext cx="1799590" cy="720090"/>
            <a:chOff x="529" y="2707"/>
            <a:chExt cx="2834" cy="1134"/>
          </a:xfrm>
        </p:grpSpPr>
        <p:sp>
          <p:nvSpPr>
            <p:cNvPr id="123" name="矩形 122"/>
            <p:cNvSpPr/>
            <p:nvPr>
              <p:custDataLst>
                <p:tags r:id="rId67"/>
              </p:custDataLst>
            </p:nvPr>
          </p:nvSpPr>
          <p:spPr>
            <a:xfrm>
              <a:off x="529" y="2707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X</a:t>
              </a:r>
              <a:r>
                <a:rPr lang="zh-CN" altLang="en-US" sz="1000" b="1">
                  <a:solidFill>
                    <a:schemeClr val="tx1"/>
                  </a:solidFill>
                </a:rPr>
                <a:t>产品</a:t>
              </a:r>
              <a:r>
                <a:rPr lang="zh-CN" altLang="en-US" sz="1000" b="1">
                  <a:solidFill>
                    <a:schemeClr val="tx1"/>
                  </a:solidFill>
                </a:rPr>
                <a:t>研发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Y</a:t>
              </a:r>
              <a:r>
                <a:rPr lang="zh-CN" altLang="en-US" sz="800">
                  <a:solidFill>
                    <a:schemeClr val="tx1"/>
                  </a:solidFill>
                </a:rPr>
                <a:t>技术预研完成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X</a:t>
              </a:r>
              <a:r>
                <a:rPr lang="zh-CN" altLang="en-US" sz="800">
                  <a:solidFill>
                    <a:schemeClr val="tx1"/>
                  </a:solidFill>
                </a:rPr>
                <a:t>产品定位需</a:t>
              </a:r>
              <a:r>
                <a:rPr lang="zh-CN" altLang="en-US" sz="800">
                  <a:solidFill>
                    <a:schemeClr val="tx1"/>
                  </a:solidFill>
                </a:rPr>
                <a:t>完善，立项延迟</a:t>
              </a:r>
              <a:r>
                <a:rPr lang="en-US" altLang="zh-CN" sz="800">
                  <a:solidFill>
                    <a:schemeClr val="tx1"/>
                  </a:solidFill>
                </a:rPr>
                <a:t> 30%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Z</a:t>
              </a:r>
              <a:r>
                <a:rPr lang="zh-CN" altLang="en-US" sz="800">
                  <a:solidFill>
                    <a:schemeClr val="tx1"/>
                  </a:solidFill>
                </a:rPr>
                <a:t>公司技术授权已付款</a:t>
              </a:r>
              <a:r>
                <a:rPr lang="en-US" altLang="zh-CN" sz="800">
                  <a:solidFill>
                    <a:schemeClr val="tx1"/>
                  </a:solidFill>
                </a:rPr>
                <a:t> 10% 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194" name="图片 193" descr="343435333333343b333635353335333b6682505c4e2d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68" y="2820"/>
              <a:ext cx="283" cy="283"/>
            </a:xfrm>
            <a:prstGeom prst="rect">
              <a:avLst/>
            </a:prstGeom>
          </p:spPr>
        </p:pic>
      </p:grpSp>
      <p:grpSp>
        <p:nvGrpSpPr>
          <p:cNvPr id="197" name="组合 196"/>
          <p:cNvGrpSpPr/>
          <p:nvPr/>
        </p:nvGrpSpPr>
        <p:grpSpPr>
          <a:xfrm>
            <a:off x="335280" y="5229860"/>
            <a:ext cx="1799590" cy="720090"/>
            <a:chOff x="528" y="8236"/>
            <a:chExt cx="2834" cy="1134"/>
          </a:xfrm>
        </p:grpSpPr>
        <p:sp>
          <p:nvSpPr>
            <p:cNvPr id="177" name="矩形 176"/>
            <p:cNvSpPr/>
            <p:nvPr>
              <p:custDataLst>
                <p:tags r:id="rId69"/>
              </p:custDataLst>
            </p:nvPr>
          </p:nvSpPr>
          <p:spPr>
            <a:xfrm>
              <a:off x="528" y="8236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985/211</a:t>
              </a:r>
              <a:r>
                <a:rPr lang="zh-CN" altLang="en-US" sz="1000" b="1">
                  <a:solidFill>
                    <a:schemeClr val="tx1"/>
                  </a:solidFill>
                </a:rPr>
                <a:t>短名单人才</a:t>
              </a:r>
              <a:r>
                <a:rPr lang="zh-CN" altLang="en-US" sz="1000" b="1">
                  <a:solidFill>
                    <a:schemeClr val="tx1"/>
                  </a:solidFill>
                </a:rPr>
                <a:t>虹吸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96" name="图片 195" descr="343435333333343b333635353335333b6682505c4e2d"/>
            <p:cNvPicPr>
              <a:picLocks noChangeAspect="1"/>
            </p:cNvPicPr>
            <p:nvPr>
              <p:custDataLst>
                <p:tags r:id="rId70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68" y="8349"/>
              <a:ext cx="283" cy="283"/>
            </a:xfrm>
            <a:prstGeom prst="rect">
              <a:avLst/>
            </a:prstGeom>
          </p:spPr>
        </p:pic>
      </p:grpSp>
      <p:grpSp>
        <p:nvGrpSpPr>
          <p:cNvPr id="199" name="组合 198"/>
          <p:cNvGrpSpPr/>
          <p:nvPr/>
        </p:nvGrpSpPr>
        <p:grpSpPr>
          <a:xfrm>
            <a:off x="335915" y="2889250"/>
            <a:ext cx="1799590" cy="720090"/>
            <a:chOff x="529" y="4550"/>
            <a:chExt cx="2834" cy="1134"/>
          </a:xfrm>
        </p:grpSpPr>
        <p:sp>
          <p:nvSpPr>
            <p:cNvPr id="141" name="矩形 140"/>
            <p:cNvSpPr/>
            <p:nvPr>
              <p:custDataLst>
                <p:tags r:id="rId71"/>
              </p:custDataLst>
            </p:nvPr>
          </p:nvSpPr>
          <p:spPr>
            <a:xfrm>
              <a:off x="529" y="4550"/>
              <a:ext cx="2835" cy="113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R</a:t>
              </a:r>
              <a:r>
                <a:rPr lang="zh-CN" altLang="en-US" sz="1000" b="1">
                  <a:solidFill>
                    <a:schemeClr val="tx1"/>
                  </a:solidFill>
                </a:rPr>
                <a:t>产品</a:t>
              </a:r>
              <a:r>
                <a:rPr lang="zh-CN" altLang="en-US" sz="1000" b="1">
                  <a:solidFill>
                    <a:schemeClr val="tx1"/>
                  </a:solidFill>
                </a:rPr>
                <a:t>线量产器件</a:t>
              </a:r>
              <a:r>
                <a:rPr lang="zh-CN" altLang="en-US" sz="1000" b="1">
                  <a:solidFill>
                    <a:schemeClr val="tx1"/>
                  </a:solidFill>
                </a:rPr>
                <a:t>供应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A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B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en-US" sz="800">
                  <a:solidFill>
                    <a:schemeClr val="tx1"/>
                  </a:solidFill>
                </a:rPr>
                <a:t>C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pic>
          <p:nvPicPr>
            <p:cNvPr id="198" name="图片 197" descr="343435383132343b333634353035363b6682505c"/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968" y="4663"/>
              <a:ext cx="283" cy="2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项目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财务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组织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335915" y="548640"/>
            <a:ext cx="1800225" cy="1800225"/>
            <a:chOff x="0" y="1317"/>
            <a:chExt cx="2835" cy="2835"/>
          </a:xfrm>
        </p:grpSpPr>
        <p:sp>
          <p:nvSpPr>
            <p:cNvPr id="49" name="矩形 48"/>
            <p:cNvSpPr/>
            <p:nvPr>
              <p:custDataLst>
                <p:tags r:id="rId1"/>
              </p:custDataLst>
            </p:nvPr>
          </p:nvSpPr>
          <p:spPr>
            <a:xfrm>
              <a:off x="0" y="1317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CRBG - </a:t>
              </a:r>
              <a:r>
                <a:rPr lang="zh-CN" altLang="en-US" sz="1000" b="1">
                  <a:solidFill>
                    <a:schemeClr val="tx1"/>
                  </a:solidFill>
                </a:rPr>
                <a:t>消费</a:t>
              </a:r>
              <a:r>
                <a:rPr lang="zh-CN" altLang="en-US" sz="1000" b="1">
                  <a:solidFill>
                    <a:schemeClr val="tx1"/>
                  </a:solidFill>
                </a:rPr>
                <a:t>机器人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51" name="图片 50" descr="343435333333343b333635353335333b6682505c4e2d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335915" y="2502535"/>
            <a:ext cx="1799590" cy="1799590"/>
            <a:chOff x="529" y="3941"/>
            <a:chExt cx="2834" cy="2834"/>
          </a:xfrm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529" y="3941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AROS - </a:t>
              </a:r>
              <a:r>
                <a:rPr lang="zh-CN" altLang="en-US" sz="1000" b="1">
                  <a:solidFill>
                    <a:schemeClr val="tx1"/>
                  </a:solidFill>
                </a:rPr>
                <a:t>先进机器人</a:t>
              </a:r>
              <a:r>
                <a:rPr lang="en-US" altLang="zh-CN" sz="1000" b="1">
                  <a:solidFill>
                    <a:schemeClr val="tx1"/>
                  </a:solidFill>
                </a:rPr>
                <a:t> OS </a:t>
              </a:r>
              <a:r>
                <a:rPr lang="zh-CN" altLang="en-US" sz="1000" b="1">
                  <a:solidFill>
                    <a:schemeClr val="tx1"/>
                  </a:solidFill>
                </a:rPr>
                <a:t>平台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10" name="图片 9" descr="343435333333343b333635353335333b6682505c4e2d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68" y="4054"/>
              <a:ext cx="283" cy="283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35915" y="4509770"/>
            <a:ext cx="1799590" cy="1799590"/>
            <a:chOff x="529" y="3941"/>
            <a:chExt cx="2834" cy="2834"/>
          </a:xfrm>
        </p:grpSpPr>
        <p:sp>
          <p:nvSpPr>
            <p:cNvPr id="16" name="矩形 15"/>
            <p:cNvSpPr/>
            <p:nvPr>
              <p:custDataLst>
                <p:tags r:id="rId7"/>
              </p:custDataLst>
            </p:nvPr>
          </p:nvSpPr>
          <p:spPr>
            <a:xfrm>
              <a:off x="529" y="3941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ISC - 集成供应链管理部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17" name="图片 16" descr="343435333333343b333635353335333b6682505c4e2d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68" y="4054"/>
              <a:ext cx="283" cy="283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2675890" y="4509770"/>
            <a:ext cx="1799590" cy="1799590"/>
            <a:chOff x="529" y="3941"/>
            <a:chExt cx="2834" cy="2834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529" y="3941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IFC - 集成</a:t>
              </a:r>
              <a:r>
                <a:rPr lang="zh-CN" altLang="en-US" sz="1000" b="1">
                  <a:solidFill>
                    <a:schemeClr val="tx1"/>
                  </a:solidFill>
                </a:rPr>
                <a:t>财金</a:t>
              </a:r>
              <a:r>
                <a:rPr lang="en-US" altLang="zh-CN" sz="1000" b="1">
                  <a:solidFill>
                    <a:schemeClr val="tx1"/>
                  </a:solidFill>
                </a:rPr>
                <a:t>管理部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20" name="图片 19" descr="343435333333343b333635353335333b6682505c4e2d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68" y="4054"/>
              <a:ext cx="283" cy="283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2675890" y="2502535"/>
            <a:ext cx="4104005" cy="1800225"/>
            <a:chOff x="4214" y="3941"/>
            <a:chExt cx="6463" cy="2835"/>
          </a:xfrm>
        </p:grpSpPr>
        <p:sp>
          <p:nvSpPr>
            <p:cNvPr id="27" name="矩形 26"/>
            <p:cNvSpPr/>
            <p:nvPr>
              <p:custDataLst>
                <p:tags r:id="rId11"/>
              </p:custDataLst>
            </p:nvPr>
          </p:nvSpPr>
          <p:spPr>
            <a:xfrm>
              <a:off x="4214" y="3941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ADTP - </a:t>
              </a:r>
              <a:r>
                <a:rPr lang="zh-CN" altLang="en-US" sz="1000" b="1">
                  <a:solidFill>
                    <a:schemeClr val="tx1"/>
                  </a:solidFill>
                </a:rPr>
                <a:t>先进驱动技术</a:t>
              </a:r>
              <a:r>
                <a:rPr lang="zh-CN" altLang="en-US" sz="1000" b="1">
                  <a:solidFill>
                    <a:schemeClr val="tx1"/>
                  </a:solidFill>
                </a:rPr>
                <a:t>平台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28" name="图片 27" descr="343435333333343b333635353335333b6682505c4e2d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3" y="4054"/>
              <a:ext cx="283" cy="283"/>
            </a:xfrm>
            <a:prstGeom prst="rect">
              <a:avLst/>
            </a:prstGeom>
          </p:spPr>
        </p:pic>
        <p:sp>
          <p:nvSpPr>
            <p:cNvPr id="31" name="矩形 30"/>
            <p:cNvSpPr/>
            <p:nvPr>
              <p:custDataLst>
                <p:tags r:id="rId13"/>
              </p:custDataLst>
            </p:nvPr>
          </p:nvSpPr>
          <p:spPr>
            <a:xfrm>
              <a:off x="7842" y="3941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AGIM - </a:t>
              </a:r>
              <a:r>
                <a:rPr lang="zh-CN" altLang="en-US" sz="1000" b="1">
                  <a:solidFill>
                    <a:schemeClr val="tx1"/>
                  </a:solidFill>
                </a:rPr>
                <a:t>机器智能</a:t>
              </a:r>
              <a:r>
                <a:rPr lang="zh-CN" altLang="en-US" sz="1000" b="1">
                  <a:solidFill>
                    <a:schemeClr val="tx1"/>
                  </a:solidFill>
                </a:rPr>
                <a:t>技术平台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675890" y="548640"/>
            <a:ext cx="1800225" cy="1800225"/>
            <a:chOff x="0" y="1317"/>
            <a:chExt cx="2835" cy="2835"/>
          </a:xfrm>
        </p:grpSpPr>
        <p:sp>
          <p:nvSpPr>
            <p:cNvPr id="33" name="矩形 32"/>
            <p:cNvSpPr/>
            <p:nvPr>
              <p:custDataLst>
                <p:tags r:id="rId14"/>
              </p:custDataLst>
            </p:nvPr>
          </p:nvSpPr>
          <p:spPr>
            <a:xfrm>
              <a:off x="0" y="1317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IRBG - </a:t>
              </a:r>
              <a:r>
                <a:rPr lang="zh-CN" altLang="en-US" sz="1000" b="1">
                  <a:solidFill>
                    <a:schemeClr val="tx1"/>
                  </a:solidFill>
                </a:rPr>
                <a:t>工业机器人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34" name="图片 33" descr="343435333333343b333635353335333b6682505c4e2d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4979670" y="548640"/>
            <a:ext cx="1800225" cy="1800225"/>
            <a:chOff x="0" y="1317"/>
            <a:chExt cx="2835" cy="2835"/>
          </a:xfrm>
        </p:grpSpPr>
        <p:sp>
          <p:nvSpPr>
            <p:cNvPr id="42" name="矩形 41"/>
            <p:cNvSpPr/>
            <p:nvPr>
              <p:custDataLst>
                <p:tags r:id="rId16"/>
              </p:custDataLst>
            </p:nvPr>
          </p:nvSpPr>
          <p:spPr>
            <a:xfrm>
              <a:off x="0" y="1317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DRBG - </a:t>
              </a:r>
              <a:r>
                <a:rPr lang="zh-CN" altLang="en-US" sz="1000" b="1">
                  <a:solidFill>
                    <a:schemeClr val="tx1"/>
                  </a:solidFill>
                </a:rPr>
                <a:t>防务机器人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43" name="图片 42" descr="343435333333343b333635353335333b6682505c4e2d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44" name="组合 43"/>
          <p:cNvGrpSpPr/>
          <p:nvPr/>
        </p:nvGrpSpPr>
        <p:grpSpPr>
          <a:xfrm>
            <a:off x="7031990" y="548640"/>
            <a:ext cx="1800225" cy="1800225"/>
            <a:chOff x="0" y="1317"/>
            <a:chExt cx="2835" cy="2835"/>
          </a:xfrm>
        </p:grpSpPr>
        <p:sp>
          <p:nvSpPr>
            <p:cNvPr id="45" name="矩形 44"/>
            <p:cNvSpPr/>
            <p:nvPr>
              <p:custDataLst>
                <p:tags r:id="rId18"/>
              </p:custDataLst>
            </p:nvPr>
          </p:nvSpPr>
          <p:spPr>
            <a:xfrm>
              <a:off x="0" y="1317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EUMKT - </a:t>
              </a:r>
              <a:r>
                <a:rPr lang="zh-CN" altLang="en-US" sz="1000" b="1">
                  <a:solidFill>
                    <a:schemeClr val="tx1"/>
                  </a:solidFill>
                </a:rPr>
                <a:t>欧洲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46" name="图片 45" descr="343435333333343b333635353335333b6682505c4e2d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/>
        </p:nvGrpSpPr>
        <p:grpSpPr>
          <a:xfrm>
            <a:off x="9084310" y="548640"/>
            <a:ext cx="1800225" cy="1800225"/>
            <a:chOff x="0" y="1317"/>
            <a:chExt cx="2835" cy="2835"/>
          </a:xfrm>
        </p:grpSpPr>
        <p:sp>
          <p:nvSpPr>
            <p:cNvPr id="50" name="矩形 49"/>
            <p:cNvSpPr/>
            <p:nvPr>
              <p:custDataLst>
                <p:tags r:id="rId20"/>
              </p:custDataLst>
            </p:nvPr>
          </p:nvSpPr>
          <p:spPr>
            <a:xfrm>
              <a:off x="0" y="1317"/>
              <a:ext cx="2835" cy="283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/>
              <a:r>
                <a:rPr lang="en-US" altLang="zh-CN" sz="1000" b="1">
                  <a:solidFill>
                    <a:schemeClr val="tx1"/>
                  </a:solidFill>
                </a:rPr>
                <a:t>MENA - </a:t>
              </a:r>
              <a:r>
                <a:rPr lang="zh-CN" altLang="en-US" sz="1000" b="1">
                  <a:solidFill>
                    <a:schemeClr val="tx1"/>
                  </a:solidFill>
                </a:rPr>
                <a:t>中东北非</a:t>
              </a:r>
              <a:endParaRPr lang="zh-CN" altLang="en-US" sz="1000" b="1">
                <a:solidFill>
                  <a:schemeClr val="tx1"/>
                </a:solidFill>
              </a:endParaRPr>
            </a:p>
            <a:p>
              <a:pPr algn="l"/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一级产品线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zh-CN" altLang="en-US" sz="800">
                  <a:solidFill>
                    <a:schemeClr val="tx1"/>
                  </a:solidFill>
                </a:rPr>
                <a:t> </a:t>
              </a:r>
              <a:r>
                <a:rPr lang="en-US" altLang="zh-CN" sz="800">
                  <a:solidFill>
                    <a:schemeClr val="tx1"/>
                  </a:solidFill>
                </a:rPr>
                <a:t>         </a:t>
              </a:r>
              <a:r>
                <a:rPr lang="zh-CN" altLang="en-US" sz="800">
                  <a:solidFill>
                    <a:schemeClr val="tx1"/>
                  </a:solidFill>
                </a:rPr>
                <a:t>二级</a:t>
              </a:r>
              <a:r>
                <a:rPr lang="zh-CN" altLang="en-US" sz="800">
                  <a:solidFill>
                    <a:schemeClr val="tx1"/>
                  </a:solidFill>
                </a:rPr>
                <a:t>产品线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                   </a:t>
              </a:r>
              <a:r>
                <a:rPr lang="zh-CN" altLang="en-US" sz="800">
                  <a:solidFill>
                    <a:schemeClr val="tx1"/>
                  </a:solidFill>
                </a:rPr>
                <a:t>三级产品线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订单</a:t>
              </a:r>
              <a:r>
                <a:rPr lang="en-US" altLang="zh-CN" sz="800">
                  <a:solidFill>
                    <a:schemeClr val="tx1"/>
                  </a:solidFill>
                </a:rPr>
                <a:t>/</a:t>
              </a:r>
              <a:r>
                <a:rPr lang="zh-CN" altLang="en-US" sz="800">
                  <a:solidFill>
                    <a:schemeClr val="tx1"/>
                  </a:solidFill>
                </a:rPr>
                <a:t>合同额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销售收入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回款</a:t>
              </a:r>
              <a:r>
                <a:rPr lang="zh-CN" altLang="en-US" sz="800">
                  <a:solidFill>
                    <a:schemeClr val="tx1"/>
                  </a:solidFill>
                </a:rPr>
                <a:t>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市场</a:t>
              </a:r>
              <a:r>
                <a:rPr lang="zh-CN" altLang="en-US" sz="800">
                  <a:solidFill>
                    <a:schemeClr val="tx1"/>
                  </a:solidFill>
                </a:rPr>
                <a:t>份额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TTM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需求命中率</a:t>
              </a:r>
              <a:endParaRPr lang="en-US" altLang="zh-CN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故障率</a:t>
              </a:r>
              <a:endParaRPr lang="zh-CN" altLang="en-US" sz="800">
                <a:solidFill>
                  <a:schemeClr val="tx1"/>
                </a:solidFill>
              </a:endParaRPr>
            </a:p>
            <a:p>
              <a:pPr algn="l"/>
              <a:r>
                <a:rPr lang="en-US" altLang="zh-CN" sz="800">
                  <a:solidFill>
                    <a:schemeClr val="tx1"/>
                  </a:solidFill>
                </a:rPr>
                <a:t>- </a:t>
              </a:r>
              <a:r>
                <a:rPr lang="zh-CN" altLang="en-US" sz="800">
                  <a:solidFill>
                    <a:schemeClr val="tx1"/>
                  </a:solidFill>
                </a:rPr>
                <a:t>投诉率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pic>
          <p:nvPicPr>
            <p:cNvPr id="52" name="图片 51" descr="343435333333343b333635353335333b6682505c4e2d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9" y="1430"/>
              <a:ext cx="283" cy="2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项目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组织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财务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COMMONDATA" val="eyJoZGlkIjoiZmRjNGIyYWUyMGQ4OTBkYzllZGQ2OGYwMjEyNTBm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WPS 演示</Application>
  <PresentationFormat>宽屏</PresentationFormat>
  <Paragraphs>338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六5-01-尹泓蕴</cp:lastModifiedBy>
  <cp:revision>86</cp:revision>
  <dcterms:created xsi:type="dcterms:W3CDTF">2026-06-20T03:07:00Z</dcterms:created>
  <dcterms:modified xsi:type="dcterms:W3CDTF">2026-06-21T04:24:16Z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95D618B1B0574F9681EA7939D2665DCB_12</vt:lpwstr>
  </property>
  <property fmtid="{D5CDD505-2E9C-101B-9397-08002B2CF9AE}" pid="3" name="KSOProductBuildVer">
    <vt:lpwstr>2052-11.1.0.15319</vt:lpwstr>
  </property>
</Properties>
</file>